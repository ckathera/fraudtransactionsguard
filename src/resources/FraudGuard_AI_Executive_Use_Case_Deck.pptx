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01000" y="0"/>
            <a:ext cx="4190695" cy="6858000"/>
          </a:xfrm>
          <a:prstGeom prst="rect">
            <a:avLst/>
          </a:prstGeom>
          <a:solidFill>
            <a:srgbClr val="EC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649224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FraudGuard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61264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D3E2F2"/>
                </a:solidFill>
                <a:latin typeface="Aptos"/>
              </a:rPr>
              <a:t>Agentic AI for real-time bank fraud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5806440" cy="9601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Detect risk. Investigate context. Apply policy. Explain the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886200"/>
            <a:ext cx="1417320" cy="347472"/>
          </a:xfrm>
          <a:prstGeom prst="roundRect">
            <a:avLst/>
          </a:prstGeom>
          <a:solidFill>
            <a:srgbClr val="BE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3982212"/>
            <a:ext cx="1271016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BLOCK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3886200"/>
            <a:ext cx="1417320" cy="347472"/>
          </a:xfrm>
          <a:prstGeom prst="roundRect">
            <a:avLst/>
          </a:prstGeom>
          <a:solidFill>
            <a:srgbClr val="D9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96312" y="3982212"/>
            <a:ext cx="1271016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FLAG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3886200"/>
            <a:ext cx="1417320" cy="347472"/>
          </a:xfrm>
          <a:prstGeom prst="roundRect">
            <a:avLst/>
          </a:prstGeom>
          <a:solidFill>
            <a:srgbClr val="2F8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42232" y="3982212"/>
            <a:ext cx="1271016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APPROVE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91440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58200" y="914400"/>
            <a:ext cx="109728" cy="960120"/>
          </a:xfrm>
          <a:prstGeom prst="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14232" y="1115568"/>
            <a:ext cx="246888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Prototype 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1452541"/>
            <a:ext cx="2441448" cy="457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1F2630"/>
                </a:solidFill>
                <a:latin typeface="Aptos"/>
              </a:rPr>
              <a:t>End-to-end decision in approx. 3-6 seconds.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224028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58200" y="2240280"/>
            <a:ext cx="109728" cy="960120"/>
          </a:xfrm>
          <a:prstGeom prst="rect">
            <a:avLst/>
          </a:prstGeom>
          <a:solidFill>
            <a:srgbClr val="00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14232" y="2441448"/>
            <a:ext cx="246888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Model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752344"/>
            <a:ext cx="2441448" cy="457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1F2630"/>
                </a:solidFill>
                <a:latin typeface="Aptos"/>
              </a:rPr>
              <a:t>Approx. 0.96 ROC-AUC and 0.87 F1 benchmark.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356616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58200" y="3566160"/>
            <a:ext cx="109728" cy="960120"/>
          </a:xfrm>
          <a:prstGeom prst="rect">
            <a:avLst/>
          </a:prstGeom>
          <a:solidFill>
            <a:srgbClr val="2F8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14232" y="3767328"/>
            <a:ext cx="246888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Executive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4232" y="4059936"/>
            <a:ext cx="2441448" cy="457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1F2630"/>
                </a:solidFill>
                <a:latin typeface="Aptos"/>
              </a:rPr>
              <a:t>Explainable workflow, not a black-box score.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166360"/>
            <a:ext cx="30632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C6978"/>
                </a:solidFill>
                <a:latin typeface="Aptos"/>
              </a:rPr>
              <a:t>LangGraph | XGBoost | FAISS RAG | FastMCP | Groq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6984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E273E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978"/>
                </a:solidFill>
                <a:latin typeface="Aptos"/>
              </a:rPr>
              <a:t>Fraud review must be fast, accurate, explainable, and cost effective.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1143000" cy="45720"/>
          </a:xfrm>
          <a:prstGeom prst="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33375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1508760"/>
            <a:ext cx="109728" cy="2971800"/>
          </a:xfrm>
          <a:prstGeom prst="rect">
            <a:avLst/>
          </a:prstGeom>
          <a:solidFill>
            <a:srgbClr val="BE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709928"/>
            <a:ext cx="2834639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Fraud evolves quickly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03704"/>
            <a:ext cx="2807208" cy="2057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630"/>
                </a:solidFill>
                <a:latin typeface="Aptos"/>
              </a:rPr>
              <a:t>Static rules can miss new behavior and sophisticated attack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508760"/>
            <a:ext cx="33375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508760"/>
            <a:ext cx="109728" cy="2971800"/>
          </a:xfrm>
          <a:prstGeom prst="rect">
            <a:avLst/>
          </a:prstGeom>
          <a:solidFill>
            <a:srgbClr val="D9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709928"/>
            <a:ext cx="2834639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False positives hurt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03704"/>
            <a:ext cx="2807208" cy="2057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630"/>
                </a:solidFill>
                <a:latin typeface="Aptos"/>
              </a:rPr>
              <a:t>Good customers get blocked, call volume rises, and trust declines.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508760"/>
            <a:ext cx="33375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508760"/>
            <a:ext cx="109728" cy="2971800"/>
          </a:xfrm>
          <a:prstGeom prst="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7615" y="1709928"/>
            <a:ext cx="2834639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Manual review is slow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2203704"/>
            <a:ext cx="2807208" cy="2057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630"/>
                </a:solidFill>
                <a:latin typeface="Aptos"/>
              </a:rPr>
              <a:t>Analysts gather data, check policy, assess risk, and write case notes.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74920"/>
            <a:ext cx="10561320" cy="68580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D4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5285232"/>
            <a:ext cx="100584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Use case fit: fraud decisions require evidence, judgment, policy alignment, and human oversight.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4754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C6978"/>
                </a:solidFill>
                <a:latin typeface="Aptos"/>
              </a:rPr>
              <a:t>FraudGuard AI | Executive Use Case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>
                <a:solidFill>
                  <a:srgbClr val="5C69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6984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E273E"/>
                </a:solidFill>
                <a:latin typeface="Aptos"/>
              </a:rPr>
              <a:t>Why This Is A Strong Agentic AI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978"/>
                </a:solidFill>
                <a:latin typeface="Aptos"/>
              </a:rPr>
              <a:t>The workflow is repetitive, evidence-driven, measurable, and high value.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1143000" cy="45720"/>
          </a:xfrm>
          <a:prstGeom prst="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9728" cy="1417320"/>
          </a:xfrm>
          <a:prstGeom prst="rect">
            <a:avLst/>
          </a:prstGeom>
          <a:solidFill>
            <a:srgbClr val="BE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618488"/>
            <a:ext cx="46177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High 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112264"/>
            <a:ext cx="4590288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630"/>
                </a:solidFill>
                <a:latin typeface="Aptos"/>
              </a:rPr>
              <a:t>Better decisions reduce fraud loss, customer friction, and analyst effort.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109728" cy="1417320"/>
          </a:xfrm>
          <a:prstGeom prst="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11112" y="1618488"/>
            <a:ext cx="46177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Multi-step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112264"/>
            <a:ext cx="4590288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630"/>
                </a:solidFill>
                <a:latin typeface="Aptos"/>
              </a:rPr>
              <a:t>The agent scores, investigates, retrieves policy, and recommends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4612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246120"/>
            <a:ext cx="109728" cy="1417320"/>
          </a:xfrm>
          <a:prstGeom prst="rect">
            <a:avLst/>
          </a:prstGeom>
          <a:solidFill>
            <a:srgbClr val="2F8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1" y="3447288"/>
            <a:ext cx="46177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Explainable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941063"/>
            <a:ext cx="4590288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630"/>
                </a:solidFill>
                <a:latin typeface="Aptos"/>
              </a:rPr>
              <a:t>Each decision includes confidence, rationale, evidence, and next steps.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4612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3246120"/>
            <a:ext cx="109728" cy="1417320"/>
          </a:xfrm>
          <a:prstGeom prst="rect">
            <a:avLst/>
          </a:prstGeom>
          <a:solidFill>
            <a:srgbClr val="00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1112" y="3447288"/>
            <a:ext cx="46177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Measurable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3941063"/>
            <a:ext cx="4590288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630"/>
                </a:solidFill>
                <a:latin typeface="Aptos"/>
              </a:rPr>
              <a:t>Accuracy, false positives, handling time, and report quality can be tracked.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5349240"/>
            <a:ext cx="2148840" cy="347472"/>
          </a:xfrm>
          <a:prstGeom prst="round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84832" y="5445252"/>
            <a:ext cx="2002536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Business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5349240"/>
            <a:ext cx="2148840" cy="347472"/>
          </a:xfrm>
          <a:prstGeom prst="roundRect">
            <a:avLst/>
          </a:prstGeom>
          <a:solidFill>
            <a:srgbClr val="00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73752" y="5445252"/>
            <a:ext cx="2002536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Governance fit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5349240"/>
            <a:ext cx="2148840" cy="347472"/>
          </a:xfrm>
          <a:prstGeom prst="roundRect">
            <a:avLst/>
          </a:prstGeom>
          <a:solidFill>
            <a:srgbClr val="2F8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62672" y="5445252"/>
            <a:ext cx="2002536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Scalable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4754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C6978"/>
                </a:solidFill>
                <a:latin typeface="Aptos"/>
              </a:rPr>
              <a:t>FraudGuard AI | Executive Use Case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>
                <a:solidFill>
                  <a:srgbClr val="5C69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6984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E273E"/>
                </a:solidFill>
                <a:latin typeface="Aptos"/>
              </a:rPr>
              <a:t>How FraudGuard AI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978"/>
                </a:solidFill>
                <a:latin typeface="Aptos"/>
              </a:rPr>
              <a:t>A guided investigation workflow from transaction to decision report.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1143000" cy="45720"/>
          </a:xfrm>
          <a:prstGeom prst="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1417320" cy="1115568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43000" y="1481328"/>
            <a:ext cx="457200" cy="457200"/>
          </a:xfrm>
          <a:prstGeom prst="round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595628"/>
            <a:ext cx="45720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76272"/>
            <a:ext cx="119786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E273E"/>
                </a:solidFill>
                <a:latin typeface="Aptos"/>
              </a:rPr>
              <a:t>Load transaction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212848"/>
            <a:ext cx="228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C6978"/>
                </a:solidFill>
                <a:latin typeface="Apto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1176" y="1874519"/>
            <a:ext cx="1417320" cy="1115568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35808" y="1481328"/>
            <a:ext cx="457200" cy="457200"/>
          </a:xfrm>
          <a:prstGeom prst="round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1595628"/>
            <a:ext cx="45720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0904" y="2176272"/>
            <a:ext cx="119786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E273E"/>
                </a:solidFill>
                <a:latin typeface="Aptos"/>
              </a:rPr>
              <a:t>Score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2212848"/>
            <a:ext cx="228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C6978"/>
                </a:solidFill>
                <a:latin typeface="Aptos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3983" y="1874519"/>
            <a:ext cx="1417320" cy="1115568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928616" y="1481328"/>
            <a:ext cx="457200" cy="457200"/>
          </a:xfrm>
          <a:prstGeom prst="round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28616" y="1595628"/>
            <a:ext cx="45720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176272"/>
            <a:ext cx="119786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E273E"/>
                </a:solidFill>
                <a:latin typeface="Aptos"/>
              </a:rPr>
              <a:t>Check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5" y="2212848"/>
            <a:ext cx="228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C6978"/>
                </a:solidFill>
                <a:latin typeface="Apto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1" y="1874519"/>
            <a:ext cx="1417320" cy="1115568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21423" y="1481328"/>
            <a:ext cx="457200" cy="457200"/>
          </a:xfrm>
          <a:prstGeom prst="round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21423" y="1595628"/>
            <a:ext cx="45720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19" y="2176272"/>
            <a:ext cx="119786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E273E"/>
                </a:solidFill>
                <a:latin typeface="Aptos"/>
              </a:rPr>
              <a:t>Retrieve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2212848"/>
            <a:ext cx="228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C6978"/>
                </a:solidFill>
                <a:latin typeface="Aptos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874519"/>
            <a:ext cx="1417320" cy="1115568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714232" y="1481328"/>
            <a:ext cx="457200" cy="457200"/>
          </a:xfrm>
          <a:prstGeom prst="round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14232" y="1595628"/>
            <a:ext cx="45720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2176272"/>
            <a:ext cx="119786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E273E"/>
                </a:solidFill>
                <a:latin typeface="Aptos"/>
              </a:rP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212848"/>
            <a:ext cx="228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C6978"/>
                </a:solidFill>
                <a:latin typeface="Aptos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22408" y="1874519"/>
            <a:ext cx="1417320" cy="1115568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607040" y="1481328"/>
            <a:ext cx="457200" cy="457200"/>
          </a:xfrm>
          <a:prstGeom prst="round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07040" y="1595628"/>
            <a:ext cx="45720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32136" y="2176272"/>
            <a:ext cx="119786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E273E"/>
                </a:solidFill>
                <a:latin typeface="Aptos"/>
              </a:rPr>
              <a:t>Report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069080"/>
            <a:ext cx="10332720" cy="987552"/>
          </a:xfrm>
          <a:prstGeom prst="roundRect">
            <a:avLst/>
          </a:prstGeom>
          <a:solidFill>
            <a:srgbClr val="0E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25880" y="4315968"/>
            <a:ext cx="95554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Output: BLOCK, FLAG, or APPROVE with rationale and recommended actions.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4754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C6978"/>
                </a:solidFill>
                <a:latin typeface="Aptos"/>
              </a:rPr>
              <a:t>FraudGuard AI | Executive Use Case Overview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>
                <a:solidFill>
                  <a:srgbClr val="5C69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6984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E273E"/>
                </a:solidFill>
                <a:latin typeface="Aptos"/>
              </a:rPr>
              <a:t>Technical Strength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978"/>
                </a:solidFill>
                <a:latin typeface="Aptos"/>
              </a:rPr>
              <a:t>A practical stack that combines models, tools, retrieval, and orchestration.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1143000" cy="45720"/>
          </a:xfrm>
          <a:prstGeom prst="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9728" cy="1234440"/>
          </a:xfrm>
          <a:prstGeom prst="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527048"/>
            <a:ext cx="27889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ML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20824"/>
            <a:ext cx="2761488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630"/>
                </a:solidFill>
                <a:latin typeface="Aptos"/>
              </a:rPr>
              <a:t>XGBoost classifies known fraud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109728" cy="1234440"/>
          </a:xfrm>
          <a:prstGeom prst="rect">
            <a:avLst/>
          </a:prstGeom>
          <a:solidFill>
            <a:srgbClr val="00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1527048"/>
            <a:ext cx="27889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Anomaly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020824"/>
            <a:ext cx="2761488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630"/>
                </a:solidFill>
                <a:latin typeface="Aptos"/>
              </a:rPr>
              <a:t>Isolation Forest catches unusual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109728" cy="1234440"/>
          </a:xfrm>
          <a:prstGeom prst="rect">
            <a:avLst/>
          </a:prstGeom>
          <a:solidFill>
            <a:srgbClr val="2F8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1" y="1527048"/>
            <a:ext cx="27889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Policy grounding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2020824"/>
            <a:ext cx="2761488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630"/>
                </a:solidFill>
                <a:latin typeface="Aptos"/>
              </a:rPr>
              <a:t>FAISS RAG brings in fraud and compliance 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1752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017520"/>
            <a:ext cx="109728" cy="1234440"/>
          </a:xfrm>
          <a:prstGeom prst="rect">
            <a:avLst/>
          </a:prstGeom>
          <a:solidFill>
            <a:srgbClr val="0E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3271" y="3218688"/>
            <a:ext cx="27889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Agent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3712463"/>
            <a:ext cx="2761488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630"/>
                </a:solidFill>
                <a:latin typeface="Aptos"/>
              </a:rPr>
              <a:t>LangGraph controls the investigation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01752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017520"/>
            <a:ext cx="109728" cy="1234440"/>
          </a:xfrm>
          <a:prstGeom prst="rect">
            <a:avLst/>
          </a:prstGeom>
          <a:solidFill>
            <a:srgbClr val="D9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0872" y="3218688"/>
            <a:ext cx="27889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Tool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3712463"/>
            <a:ext cx="2761488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630"/>
                </a:solidFill>
                <a:latin typeface="Aptos"/>
              </a:rPr>
              <a:t>FastMCP separates data access from reasoning.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01752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2440" y="3017520"/>
            <a:ext cx="109728" cy="1234440"/>
          </a:xfrm>
          <a:prstGeom prst="rect">
            <a:avLst/>
          </a:prstGeom>
          <a:solidFill>
            <a:srgbClr val="BE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48471" y="3218688"/>
            <a:ext cx="27889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73E"/>
                </a:solidFill>
                <a:latin typeface="Aptos"/>
              </a:rPr>
              <a:t>Decision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3712463"/>
            <a:ext cx="2761488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630"/>
                </a:solidFill>
                <a:latin typeface="Aptos"/>
              </a:rPr>
              <a:t>LLM drafts rationale and case reports.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5120640"/>
            <a:ext cx="10058400" cy="59436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D4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5303520"/>
            <a:ext cx="950976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0E273E"/>
                </a:solidFill>
                <a:latin typeface="Aptos"/>
              </a:rPr>
              <a:t>Key architecture strength: deeper investigation is triggered only when transaction risk justifies 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4754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C6978"/>
                </a:solidFill>
                <a:latin typeface="Aptos"/>
              </a:rPr>
              <a:t>FraudGuard AI | Executive Use Case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>
                <a:solidFill>
                  <a:srgbClr val="5C69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6984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E273E"/>
                </a:solidFill>
                <a:latin typeface="Aptos"/>
              </a:rPr>
              <a:t>Prototype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978"/>
                </a:solidFill>
                <a:latin typeface="Aptos"/>
              </a:rPr>
              <a:t>The current implementation demonstrates an end-to-end enterprise AI pattern.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1143000" cy="45720"/>
          </a:xfrm>
          <a:prstGeom prst="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4937760" cy="3063240"/>
          </a:xfrm>
          <a:prstGeom prst="rect">
            <a:avLst/>
          </a:prstGeom>
          <a:noFill/>
        </p:spPr>
        <p:txBody>
          <a:bodyPr wrap="square" lIns="73152" tIns="18288" r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630"/>
                </a:solidFill>
                <a:latin typeface="Aptos"/>
              </a:defRPr>
            </a:pPr>
            <a:r>
              <a:t>Six-node LangGraph workflow</a:t>
            </a:r>
          </a:p>
          <a:p>
            <a:pPr>
              <a:spcAft>
                <a:spcPts val="800"/>
              </a:spcAft>
              <a:defRPr sz="1600">
                <a:solidFill>
                  <a:srgbClr val="1F2630"/>
                </a:solidFill>
                <a:latin typeface="Aptos"/>
              </a:defRPr>
            </a:pPr>
            <a:r>
              <a:t>Five fraud investigation tools</a:t>
            </a:r>
          </a:p>
          <a:p>
            <a:pPr>
              <a:spcAft>
                <a:spcPts val="800"/>
              </a:spcAft>
              <a:defRPr sz="1600">
                <a:solidFill>
                  <a:srgbClr val="1F2630"/>
                </a:solidFill>
                <a:latin typeface="Aptos"/>
              </a:defRPr>
            </a:pPr>
            <a:r>
              <a:t>Risk-based conditional routing</a:t>
            </a:r>
          </a:p>
          <a:p>
            <a:pPr>
              <a:spcAft>
                <a:spcPts val="800"/>
              </a:spcAft>
              <a:defRPr sz="1600">
                <a:solidFill>
                  <a:srgbClr val="1F2630"/>
                </a:solidFill>
                <a:latin typeface="Aptos"/>
              </a:defRPr>
            </a:pPr>
            <a:r>
              <a:t>Policy-grounded RAG context</a:t>
            </a:r>
          </a:p>
          <a:p>
            <a:pPr>
              <a:spcAft>
                <a:spcPts val="800"/>
              </a:spcAft>
              <a:defRPr sz="1600">
                <a:solidFill>
                  <a:srgbClr val="1F2630"/>
                </a:solidFill>
                <a:latin typeface="Aptos"/>
              </a:defRPr>
            </a:pPr>
            <a:r>
              <a:t>Analyst-facing Streamlit dashboard</a:t>
            </a:r>
          </a:p>
          <a:p>
            <a:pPr>
              <a:spcAft>
                <a:spcPts val="800"/>
              </a:spcAft>
              <a:defRPr sz="1600">
                <a:solidFill>
                  <a:srgbClr val="1F2630"/>
                </a:solidFill>
                <a:latin typeface="Aptos"/>
              </a:defRPr>
            </a:pPr>
            <a:r>
              <a:t>Structured fraud alert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4800600" cy="342900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D4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1605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E273E"/>
                </a:solidFill>
                <a:latin typeface="Aptos"/>
              </a:rPr>
              <a:t>Demonstrated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423160"/>
            <a:ext cx="173736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62A9"/>
                </a:solidFill>
                <a:latin typeface="Aptos"/>
              </a:rPr>
              <a:t>3-6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514600"/>
            <a:ext cx="1920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978"/>
                </a:solidFill>
                <a:latin typeface="Aptos"/>
              </a:rPr>
              <a:t>end-to-end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154680"/>
            <a:ext cx="173736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07E84"/>
                </a:solidFill>
                <a:latin typeface="Aptos"/>
              </a:rPr>
              <a:t>0.96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246120"/>
            <a:ext cx="1920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978"/>
                </a:solidFill>
                <a:latin typeface="Aptos"/>
              </a:rPr>
              <a:t>approx. ROC-AUC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886200"/>
            <a:ext cx="173736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2F895E"/>
                </a:solidFill>
                <a:latin typeface="Aptos"/>
              </a:rPr>
              <a:t>0.87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977639"/>
            <a:ext cx="1920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978"/>
                </a:solidFill>
                <a:latin typeface="Aptos"/>
              </a:rPr>
              <a:t>approx. F1-score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4754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C6978"/>
                </a:solidFill>
                <a:latin typeface="Aptos"/>
              </a:rPr>
              <a:t>FraudGuard AI | Executive Use Case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>
                <a:solidFill>
                  <a:srgbClr val="5C69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6984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E273E"/>
                </a:solidFill>
                <a:latin typeface="Aptos"/>
              </a:rPr>
              <a:t>Executive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978"/>
                </a:solidFill>
                <a:latin typeface="Aptos"/>
              </a:rPr>
              <a:t>FraudGuard AI is a strong, realistic, and explainable agentic AI use case.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1143000" cy="45720"/>
          </a:xfrm>
          <a:prstGeom prst="rect">
            <a:avLst/>
          </a:prstGeom>
          <a:solidFill>
            <a:srgbClr val="1F6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4983480" cy="4023360"/>
          </a:xfrm>
          <a:prstGeom prst="roundRect">
            <a:avLst/>
          </a:prstGeom>
          <a:solidFill>
            <a:srgbClr val="0E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43434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What makes it strong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4251960" cy="2240280"/>
          </a:xfrm>
          <a:prstGeom prst="rect">
            <a:avLst/>
          </a:prstGeom>
          <a:noFill/>
        </p:spPr>
        <p:txBody>
          <a:bodyPr wrap="square" lIns="73152" tIns="18288" rIns="36576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FFFFFF"/>
                </a:solidFill>
                <a:latin typeface="Aptos"/>
              </a:defRPr>
            </a:pPr>
            <a:r>
              <a:t>High-value business problem</a:t>
            </a:r>
          </a:p>
          <a:p>
            <a:pPr>
              <a:spcAft>
                <a:spcPts val="800"/>
              </a:spcAft>
              <a:defRPr sz="1550">
                <a:solidFill>
                  <a:srgbClr val="FFFFFF"/>
                </a:solidFill>
                <a:latin typeface="Aptos"/>
              </a:defRPr>
            </a:pPr>
            <a:r>
              <a:t>Real multi-step AI workflow</a:t>
            </a:r>
          </a:p>
          <a:p>
            <a:pPr>
              <a:spcAft>
                <a:spcPts val="800"/>
              </a:spcAft>
              <a:defRPr sz="1550">
                <a:solidFill>
                  <a:srgbClr val="FFFFFF"/>
                </a:solidFill>
                <a:latin typeface="Aptos"/>
              </a:defRPr>
            </a:pPr>
            <a:r>
              <a:t>Explainable and policy-aware</a:t>
            </a:r>
          </a:p>
          <a:p>
            <a:pPr>
              <a:spcAft>
                <a:spcPts val="800"/>
              </a:spcAft>
              <a:defRPr sz="1550">
                <a:solidFill>
                  <a:srgbClr val="FFFFFF"/>
                </a:solidFill>
                <a:latin typeface="Aptos"/>
              </a:defRPr>
            </a:pPr>
            <a:r>
              <a:t>Human oversight friendly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49834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691640"/>
            <a:ext cx="42976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E273E"/>
                </a:solidFill>
                <a:latin typeface="Aptos"/>
              </a:rPr>
              <a:t>How to position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286000"/>
            <a:ext cx="4160520" cy="2148840"/>
          </a:xfrm>
          <a:prstGeom prst="rect">
            <a:avLst/>
          </a:prstGeom>
          <a:noFill/>
        </p:spPr>
        <p:txBody>
          <a:bodyPr wrap="square" lIns="73152" tIns="18288" rIns="36576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1F2630"/>
                </a:solidFill>
                <a:latin typeface="Aptos"/>
              </a:defRPr>
            </a:pPr>
            <a:r>
              <a:t>Not just a chatbot or model demo</a:t>
            </a:r>
          </a:p>
          <a:p>
            <a:pPr>
              <a:spcAft>
                <a:spcPts val="800"/>
              </a:spcAft>
              <a:defRPr sz="1550">
                <a:solidFill>
                  <a:srgbClr val="1F2630"/>
                </a:solidFill>
                <a:latin typeface="Aptos"/>
              </a:defRPr>
            </a:pPr>
            <a:r>
              <a:t>A governed fraud decision workflow</a:t>
            </a:r>
          </a:p>
          <a:p>
            <a:pPr>
              <a:spcAft>
                <a:spcPts val="800"/>
              </a:spcAft>
              <a:defRPr sz="1550">
                <a:solidFill>
                  <a:srgbClr val="1F2630"/>
                </a:solidFill>
                <a:latin typeface="Aptos"/>
              </a:defRPr>
            </a:pPr>
            <a:r>
              <a:t>A foundation for fraud operations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4681728"/>
            <a:ext cx="4160520" cy="457200"/>
          </a:xfrm>
          <a:prstGeom prst="roundRect">
            <a:avLst/>
          </a:prstGeom>
          <a:solidFill>
            <a:srgbClr val="2F8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4818888"/>
            <a:ext cx="379476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Faster, clearer, policy-aware fraud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4754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C6978"/>
                </a:solidFill>
                <a:latin typeface="Aptos"/>
              </a:rPr>
              <a:t>FraudGuard AI | Executive Use Case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>
                <a:solidFill>
                  <a:srgbClr val="5C69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531</Words>
  <Application>Microsoft Office PowerPoint</Application>
  <PresentationFormat>Widescreen</PresentationFormat>
  <Paragraphs>109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 k</cp:lastModifiedBy>
  <cp:revision>2</cp:revision>
  <dcterms:created xsi:type="dcterms:W3CDTF">2013-01-27T09:14:16Z</dcterms:created>
  <dcterms:modified xsi:type="dcterms:W3CDTF">2026-05-30T20:59:28Z</dcterms:modified>
  <cp:category/>
</cp:coreProperties>
</file>